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8" autoAdjust="0"/>
    <p:restoredTop sz="94660"/>
  </p:normalViewPr>
  <p:slideViewPr>
    <p:cSldViewPr snapToGrid="0">
      <p:cViewPr varScale="1">
        <p:scale>
          <a:sx n="92" d="100"/>
          <a:sy n="92" d="100"/>
        </p:scale>
        <p:origin x="106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erti Gurung" userId="e2354b7e34d2f498" providerId="LiveId" clId="{003F203D-70B0-4059-9844-D7232372AAB9}"/>
    <pc:docChg chg="modSld">
      <pc:chgData name="Keerti Gurung" userId="e2354b7e34d2f498" providerId="LiveId" clId="{003F203D-70B0-4059-9844-D7232372AAB9}" dt="2026-09-22T13:09:46.752" v="1" actId="122"/>
      <pc:docMkLst>
        <pc:docMk/>
      </pc:docMkLst>
      <pc:sldChg chg="modSp mod">
        <pc:chgData name="Keerti Gurung" userId="e2354b7e34d2f498" providerId="LiveId" clId="{003F203D-70B0-4059-9844-D7232372AAB9}" dt="2026-09-22T13:09:46.752" v="1" actId="122"/>
        <pc:sldMkLst>
          <pc:docMk/>
          <pc:sldMk cId="1858497084" sldId="256"/>
        </pc:sldMkLst>
        <pc:spChg chg="mod">
          <ac:chgData name="Keerti Gurung" userId="e2354b7e34d2f498" providerId="LiveId" clId="{003F203D-70B0-4059-9844-D7232372AAB9}" dt="2026-09-22T13:09:46.752" v="1" actId="122"/>
          <ac:spMkLst>
            <pc:docMk/>
            <pc:sldMk cId="1858497084" sldId="256"/>
            <ac:spMk id="3" creationId="{F38D0DE3-630C-42EC-9F5C-B6AFD109F3C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46ABC-1537-49E0-B584-0469D7EDC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498B75-CCF3-44E0-890B-3963A7B52F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574080-AC8A-493D-8816-952A4F9BE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3534A-21AD-46AD-8F99-77E551AE2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1617E-A789-4A39-B00E-6B22482E0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8891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FAE8-1082-431F-BF43-82E5CDDE3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3FB84-C2AE-4D33-854F-A984AE109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180907-913B-4C4F-878C-959CA5374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56AA5-8D2F-46FE-A5CC-0EB2586DA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59593-5A0D-4E00-9AD7-E0424261C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522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CC1D1-4A84-4AAB-8ABC-1802379D1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12191-7863-44AE-99AD-39EE9C1A1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DBA0B-7B73-4558-B051-B300B295D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B291E-0334-4487-A0DF-A9D07174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2B2815-6036-4E35-BA81-8FF39732D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9905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FCCC-7FA8-4B73-BCD5-1B0509A3B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A8B83-70D8-4604-9117-017A985B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19A42-91C6-49AD-A672-AE7F287D6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0B067-70A4-4584-81F0-255F2506A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25B3FF-07EB-4335-8D20-58A09CE7D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847398-3F84-4A05-A887-CC3804476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4520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BF5A-27EF-4696-8E08-3AE3DF113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2D6B1-4985-4381-A67C-9EDA758C7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BE343C-077E-47CE-996D-6F7769097C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A3B016-5CD3-442A-BF9D-CC1A14DE97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C13E6F-50AD-4A47-B9EA-D3A24060C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07C444-5674-4709-8172-53108FBD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3A30BD-6047-4F94-B182-204616D26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668C93-071B-4D91-B95B-6C0D720CA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2155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F6854-FBB7-4CC7-A79F-E1D337FB5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288F20-CD69-4951-980D-70890095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E1A6D0-7D78-4E56-9A6D-2432FC8B7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FE7A60-2FA9-4776-AC2C-26346504E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1977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0A69B2-EDC3-4B22-BE9F-9251249F3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BE8CEA-97F3-4AEF-B762-07C1CF7C9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D1F0F6-A39A-4E93-B57B-49A7DABA1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137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DE820-62CD-4453-BF01-5ED26F733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394BD-56B0-4A8A-A5F7-59BC2A1299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D48AC-C2FC-42C0-9B62-2E9E1EF358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C7DEC6-FC5E-4556-967B-156F89786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10173F-9290-4396-B16C-206F2A54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B40F4-5F61-459B-9CB5-02E683561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318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D96D-D5ED-46C2-90B5-F2297B02A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49CD68-C61D-49F0-8D90-17933F569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64D14D-0E17-4199-BACB-3BC86302C6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D38675-D03C-4241-9000-21D419EA5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87B76B-295B-4689-921E-977B86C07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B0003-C5E0-46F5-A577-2881A6915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267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39382-B96F-4F23-ADDD-3568C9D77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6D77F-B376-4774-A428-5A0E5633E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6BB02-971C-4BBC-9BDA-5B839441A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13F14-EC06-4186-B22C-9A76EC7CC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5F110-CD7C-45EB-A046-11B0F10D6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6394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752960-6812-4D97-B297-E2F823A9BB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9F4669-B7F5-4B4C-9250-9AD92D82A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6C21E-808F-4C47-87F1-599FD7952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D7636-08B9-4E9C-AE70-4FCEB13A9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A1810-0E3A-4251-9883-E121F6D23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2560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1E55D-F324-4B11-9D3F-79346554B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63F25-9C15-4282-8F75-3D40C99203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25D47-17D2-4D56-98DB-D568DDF1B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3509AE-8639-4C23-B8E7-CA9382F03BD0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88967D-D689-4E9A-B323-49725A3C08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9209E-E486-4C0C-A547-DF02961B7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9644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CCD44-A660-46A2-825B-78A6EF8CAC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247" y="606974"/>
            <a:ext cx="9144000" cy="2227666"/>
          </a:xfrm>
        </p:spPr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Wayfair E-commerce Sales &amp; Profitability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D0DE3-630C-42EC-9F5C-B6AFD109F3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/>
              <a:t>Case Study | 2024-2025</a:t>
            </a:r>
          </a:p>
          <a:p>
            <a:r>
              <a:rPr lang="en-GB" sz="1400" dirty="0"/>
              <a:t>Tools: Python | PostgreSQL | Power BI</a:t>
            </a:r>
          </a:p>
        </p:txBody>
      </p:sp>
    </p:spTree>
    <p:extLst>
      <p:ext uri="{BB962C8B-B14F-4D97-AF65-F5344CB8AC3E}">
        <p14:creationId xmlns:p14="http://schemas.microsoft.com/office/powerpoint/2010/main" val="1858497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BD110-08A7-4969-B059-A87AFB0CF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F1F93-4CE4-4633-96F8-92A0B1365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000" dirty="0"/>
              <a:t>This analysis evaluates historical sales data from 2024-2025 to understand: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How has sales performance changed from 2024-2025?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Which products and categories drive revenue and profitability?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How are returns and cancellations affecting performance?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0653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523D-E30E-458A-8F1B-941AFFEE9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Data &amp; Analytical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8E66E-38FA-4989-A8E2-ABA40C5B28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80052"/>
            <a:ext cx="2495204" cy="4637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000" dirty="0"/>
              <a:t>Data overview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141B7ED8-3E2F-4C8D-9B70-29F479479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95974"/>
            <a:ext cx="10034850" cy="215360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000" dirty="0"/>
              <a:t>Analytical Workflow</a:t>
            </a:r>
          </a:p>
          <a:p>
            <a:pPr marL="0" indent="0">
              <a:buNone/>
            </a:pPr>
            <a:r>
              <a:rPr lang="en-GB" sz="2000" dirty="0"/>
              <a:t>Raw Data → Data Cleaning → Exploratory Data Analysis → Data Modelling → KPI Definition → SQL Analysis → Power BI Dashboard → Insights &amp; Recommendations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Tools Used:</a:t>
            </a:r>
          </a:p>
          <a:p>
            <a:pPr marL="0" indent="0">
              <a:buNone/>
            </a:pPr>
            <a:r>
              <a:rPr lang="en-GB" sz="2000" dirty="0"/>
              <a:t>Python | PostgreSQL | SQL | Power BI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5EA871-F84D-4B02-AA7F-5C2BDFC350EB}"/>
              </a:ext>
            </a:extLst>
          </p:cNvPr>
          <p:cNvSpPr/>
          <p:nvPr/>
        </p:nvSpPr>
        <p:spPr>
          <a:xfrm>
            <a:off x="838200" y="2382890"/>
            <a:ext cx="2212571" cy="1046110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Customers</a:t>
            </a:r>
          </a:p>
          <a:p>
            <a:pPr algn="ctr"/>
            <a:r>
              <a:rPr lang="en-GB" sz="2400" dirty="0"/>
              <a:t>3,600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A0F283-6DDC-40F8-AA5E-059B6358964D}"/>
              </a:ext>
            </a:extLst>
          </p:cNvPr>
          <p:cNvSpPr/>
          <p:nvPr/>
        </p:nvSpPr>
        <p:spPr>
          <a:xfrm>
            <a:off x="3434541" y="2421954"/>
            <a:ext cx="2212571" cy="1046110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Products</a:t>
            </a:r>
          </a:p>
          <a:p>
            <a:pPr algn="ctr"/>
            <a:r>
              <a:rPr lang="en-GB" sz="2400" dirty="0"/>
              <a:t>90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AB4831-6BD1-4AB0-99FE-BDD6AC5F7198}"/>
              </a:ext>
            </a:extLst>
          </p:cNvPr>
          <p:cNvSpPr/>
          <p:nvPr/>
        </p:nvSpPr>
        <p:spPr>
          <a:xfrm>
            <a:off x="8660480" y="2379590"/>
            <a:ext cx="2212570" cy="10884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Order Items</a:t>
            </a:r>
          </a:p>
          <a:p>
            <a:pPr algn="ctr"/>
            <a:r>
              <a:rPr lang="en-GB" sz="2400" dirty="0"/>
              <a:t>15,409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C453C4B-1402-4BBA-82A8-6181F4A183AC}"/>
              </a:ext>
            </a:extLst>
          </p:cNvPr>
          <p:cNvSpPr/>
          <p:nvPr/>
        </p:nvSpPr>
        <p:spPr>
          <a:xfrm>
            <a:off x="6096000" y="2343826"/>
            <a:ext cx="2212570" cy="112423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Orders</a:t>
            </a:r>
          </a:p>
          <a:p>
            <a:pPr algn="ctr"/>
            <a:r>
              <a:rPr lang="en-GB" sz="2400" dirty="0"/>
              <a:t>9,207</a:t>
            </a:r>
          </a:p>
        </p:txBody>
      </p:sp>
    </p:spTree>
    <p:extLst>
      <p:ext uri="{BB962C8B-B14F-4D97-AF65-F5344CB8AC3E}">
        <p14:creationId xmlns:p14="http://schemas.microsoft.com/office/powerpoint/2010/main" val="1944091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677BF-602F-4C43-996A-21BF3097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Data Cleaning and Data Modelling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F34D8-2E72-4546-9E03-70F3822862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51519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/>
              <a:t>Key Data Cleaning Steps:</a:t>
            </a:r>
          </a:p>
          <a:p>
            <a:r>
              <a:rPr lang="en-GB" sz="2000" dirty="0"/>
              <a:t>Removed 38 exact duplicate order records</a:t>
            </a:r>
          </a:p>
          <a:p>
            <a:r>
              <a:rPr lang="en-GB" sz="2000" dirty="0"/>
              <a:t>Removed 199 order-item records with missing unit prices</a:t>
            </a:r>
          </a:p>
          <a:p>
            <a:r>
              <a:rPr lang="en-GB" sz="2000" dirty="0"/>
              <a:t>Converted data fields to proper data format</a:t>
            </a:r>
          </a:p>
          <a:p>
            <a:r>
              <a:rPr lang="en-GB" sz="2000" dirty="0"/>
              <a:t>Replaced missing discount codes with “No Discount”</a:t>
            </a:r>
          </a:p>
          <a:p>
            <a:r>
              <a:rPr lang="en-GB" sz="2000" dirty="0"/>
              <a:t>Standardized product category names</a:t>
            </a:r>
          </a:p>
          <a:p>
            <a:r>
              <a:rPr lang="en-GB" sz="2000" dirty="0"/>
              <a:t>Validated relationships between datasets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3669161-C7B4-44EC-99B1-786044642C9E}"/>
              </a:ext>
            </a:extLst>
          </p:cNvPr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669280" y="1880639"/>
            <a:ext cx="5684520" cy="326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354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8553E96-42C0-472E-8B44-7700CD55B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Sales Performance: 2024 vs 2025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6D81C15-7D36-4C39-B24F-C0729E27B4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3425" y="4852276"/>
            <a:ext cx="6238621" cy="150460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200" dirty="0"/>
              <a:t>Monthly Pattern</a:t>
            </a:r>
          </a:p>
          <a:p>
            <a:pPr marL="0" indent="0">
              <a:buNone/>
            </a:pPr>
            <a:r>
              <a:rPr lang="en-GB" sz="2200" dirty="0"/>
              <a:t> November was the strongest month in both years.</a:t>
            </a:r>
          </a:p>
          <a:p>
            <a:r>
              <a:rPr lang="en-GB" sz="2200" dirty="0"/>
              <a:t>Nov 2024 Revenue: $107.5K</a:t>
            </a:r>
          </a:p>
          <a:p>
            <a:r>
              <a:rPr lang="en-GB" sz="2200" dirty="0"/>
              <a:t>Nov 2025 Revenue: $141.1K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372BB4B-3216-41D8-80BE-75F4695868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30135"/>
            <a:ext cx="2786149" cy="1013065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2200" dirty="0"/>
              <a:t>Revenue</a:t>
            </a:r>
          </a:p>
          <a:p>
            <a:pPr marL="0" indent="0" algn="ctr">
              <a:buNone/>
            </a:pPr>
            <a:r>
              <a:rPr lang="en-GB" sz="2600" dirty="0"/>
              <a:t>$926.5K → $1.12M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A2F1DA0-0748-43BD-B738-A37CF5E0BEC5}"/>
              </a:ext>
            </a:extLst>
          </p:cNvPr>
          <p:cNvSpPr/>
          <p:nvPr/>
        </p:nvSpPr>
        <p:spPr>
          <a:xfrm>
            <a:off x="838200" y="3032467"/>
            <a:ext cx="2786149" cy="1013065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Profit</a:t>
            </a:r>
          </a:p>
          <a:p>
            <a:pPr algn="ctr"/>
            <a:r>
              <a:rPr lang="en-GB" sz="2400" dirty="0"/>
              <a:t>$442.4K → $564.8K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1F87F97-2E12-4EEE-B4AA-D3E49B4A083D}"/>
              </a:ext>
            </a:extLst>
          </p:cNvPr>
          <p:cNvSpPr/>
          <p:nvPr/>
        </p:nvSpPr>
        <p:spPr>
          <a:xfrm>
            <a:off x="838201" y="4289911"/>
            <a:ext cx="2786148" cy="1013066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Profit Margin</a:t>
            </a:r>
          </a:p>
          <a:p>
            <a:pPr algn="ctr"/>
            <a:r>
              <a:rPr lang="en-GB" sz="2400" dirty="0"/>
              <a:t>47.75% → 50.39%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394E010-9E1B-4FB8-A510-80DDFD780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24" y="1643101"/>
            <a:ext cx="6238621" cy="3153343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40E721F-2559-41AC-B746-C3798032FD90}"/>
              </a:ext>
            </a:extLst>
          </p:cNvPr>
          <p:cNvSpPr/>
          <p:nvPr/>
        </p:nvSpPr>
        <p:spPr>
          <a:xfrm>
            <a:off x="838201" y="5580607"/>
            <a:ext cx="2786148" cy="1013066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2024 </a:t>
            </a:r>
            <a:r>
              <a:rPr lang="en-US" sz="2000" dirty="0"/>
              <a:t>→ 2025 Growth</a:t>
            </a:r>
          </a:p>
          <a:p>
            <a:pPr algn="ctr"/>
            <a:r>
              <a:rPr lang="en-US" sz="2400" dirty="0"/>
              <a:t>Revenue +21.0%  Profit +27.7%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152110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18A11-4F84-43F6-B7B3-21C93A878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Product &amp; Category Performance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5455B80-10A0-4745-BF1C-0EBF1FDA56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248400" y="1551661"/>
            <a:ext cx="5181600" cy="3311283"/>
          </a:xfr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E53D98-8513-48BE-8FBD-DF557229552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838200" y="1592869"/>
            <a:ext cx="5181600" cy="3270076"/>
          </a:xfr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C9F4D20-AF1B-4D68-A38B-1A93E674F3FC}"/>
              </a:ext>
            </a:extLst>
          </p:cNvPr>
          <p:cNvSpPr/>
          <p:nvPr/>
        </p:nvSpPr>
        <p:spPr>
          <a:xfrm>
            <a:off x="838200" y="5265131"/>
            <a:ext cx="3167149" cy="1055716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Top Category: Furniture</a:t>
            </a:r>
          </a:p>
          <a:p>
            <a:pPr algn="ctr"/>
            <a:r>
              <a:rPr lang="en-GB" sz="2000" dirty="0"/>
              <a:t>Revenue: $367.9K</a:t>
            </a:r>
          </a:p>
          <a:p>
            <a:pPr algn="ctr"/>
            <a:r>
              <a:rPr lang="en-GB" sz="2000" dirty="0"/>
              <a:t>Profit: $170.3K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9DBFDFD-8383-40F0-91F0-51E3D2811CA6}"/>
              </a:ext>
            </a:extLst>
          </p:cNvPr>
          <p:cNvSpPr/>
          <p:nvPr/>
        </p:nvSpPr>
        <p:spPr>
          <a:xfrm>
            <a:off x="6248400" y="5275907"/>
            <a:ext cx="3676996" cy="1055716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Top Product: Cotton Patio Chair</a:t>
            </a:r>
          </a:p>
          <a:p>
            <a:pPr algn="ctr"/>
            <a:r>
              <a:rPr lang="en-GB" sz="2000" dirty="0"/>
              <a:t>Revenue: $74.5K</a:t>
            </a:r>
          </a:p>
          <a:p>
            <a:pPr algn="ctr"/>
            <a:r>
              <a:rPr lang="en-GB" sz="2000" dirty="0"/>
              <a:t>Profit: $33.3K</a:t>
            </a:r>
          </a:p>
        </p:txBody>
      </p:sp>
    </p:spTree>
    <p:extLst>
      <p:ext uri="{BB962C8B-B14F-4D97-AF65-F5344CB8AC3E}">
        <p14:creationId xmlns:p14="http://schemas.microsoft.com/office/powerpoint/2010/main" val="2245566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2257F-1CA3-4D1F-BF7D-DA4A7F87F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Return &amp; Cancellations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A2CBB-4DA8-40AF-8AE5-E662E35951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20204" y="1974382"/>
            <a:ext cx="4515196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dirty="0"/>
              <a:t>OVERALL STATUS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4F1738-82F0-4555-964B-CB0472CF4B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97219" y="5251506"/>
            <a:ext cx="5181600" cy="113828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GB" dirty="0"/>
          </a:p>
          <a:p>
            <a:r>
              <a:rPr lang="en-GB" sz="2200" dirty="0"/>
              <a:t>Furniture → Highest return rate: 11.66%</a:t>
            </a:r>
          </a:p>
          <a:p>
            <a:r>
              <a:rPr lang="en-GB" sz="2200" dirty="0"/>
              <a:t>Bath → Highest cancellation rate: 4.50%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26091E-929F-471D-AF8B-ACBA28B319DA}"/>
              </a:ext>
            </a:extLst>
          </p:cNvPr>
          <p:cNvSpPr/>
          <p:nvPr/>
        </p:nvSpPr>
        <p:spPr>
          <a:xfrm>
            <a:off x="838201" y="2616893"/>
            <a:ext cx="1921624" cy="8121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9,207</a:t>
            </a:r>
          </a:p>
          <a:p>
            <a:pPr algn="ctr"/>
            <a:r>
              <a:rPr lang="en-GB" sz="2000" dirty="0"/>
              <a:t>Orders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240F4B-008E-4DE4-9FC2-1C6A0D0A4BE8}"/>
              </a:ext>
            </a:extLst>
          </p:cNvPr>
          <p:cNvSpPr/>
          <p:nvPr/>
        </p:nvSpPr>
        <p:spPr>
          <a:xfrm>
            <a:off x="789479" y="3743999"/>
            <a:ext cx="1921624" cy="81210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407</a:t>
            </a:r>
          </a:p>
          <a:p>
            <a:pPr algn="ctr"/>
            <a:r>
              <a:rPr lang="en-GB" sz="2000" dirty="0"/>
              <a:t>Returned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2C3EAC-F53E-4D5A-BFA6-3DBC38E01378}"/>
              </a:ext>
            </a:extLst>
          </p:cNvPr>
          <p:cNvSpPr/>
          <p:nvPr/>
        </p:nvSpPr>
        <p:spPr>
          <a:xfrm>
            <a:off x="789479" y="4880171"/>
            <a:ext cx="1921624" cy="81210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344</a:t>
            </a:r>
          </a:p>
          <a:p>
            <a:pPr algn="ctr"/>
            <a:r>
              <a:rPr lang="en-GB" sz="2000" dirty="0"/>
              <a:t>Cancelled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9758D3E-8CE2-46EB-8C5E-BF1A59916744}"/>
              </a:ext>
            </a:extLst>
          </p:cNvPr>
          <p:cNvSpPr/>
          <p:nvPr/>
        </p:nvSpPr>
        <p:spPr>
          <a:xfrm>
            <a:off x="3313775" y="2616893"/>
            <a:ext cx="1921625" cy="81210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4.42%</a:t>
            </a:r>
          </a:p>
          <a:p>
            <a:pPr algn="ctr"/>
            <a:r>
              <a:rPr lang="en-GB" sz="2000" dirty="0"/>
              <a:t>Return Rate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9119452-9C50-4083-ABB2-CB741E6E1F73}"/>
              </a:ext>
            </a:extLst>
          </p:cNvPr>
          <p:cNvSpPr/>
          <p:nvPr/>
        </p:nvSpPr>
        <p:spPr>
          <a:xfrm>
            <a:off x="3313776" y="3743998"/>
            <a:ext cx="1921624" cy="101919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3.74%</a:t>
            </a:r>
          </a:p>
          <a:p>
            <a:pPr algn="ctr"/>
            <a:r>
              <a:rPr lang="en-GB" sz="2000" dirty="0"/>
              <a:t>Cancellation Rate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6CFF4CD-8FA6-4C6E-B61B-290ACE3B5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029" y="1794954"/>
            <a:ext cx="6219334" cy="345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001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9DA9B-8B79-4A7F-BE4D-372609C51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Key Insights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E3E52F-FEDC-416C-A176-9E285842E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sz="2000" dirty="0"/>
              <a:t>Sales Growth – Revenue increased 21.0% from 2024 to 2025.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Profitability – Profit increased 27.7%, while Profit margin reached from 47.75% to 50.39%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Category Performance – Furniture generated the highest revenue and profit, while Storage had highest profit margin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Product Performance – Cotton Patio Chair was the highest-revenue individual product.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Order Status – Furniture had the highest return rate while Bath had the highest cancellation rate.</a:t>
            </a:r>
          </a:p>
        </p:txBody>
      </p:sp>
    </p:spTree>
    <p:extLst>
      <p:ext uri="{BB962C8B-B14F-4D97-AF65-F5344CB8AC3E}">
        <p14:creationId xmlns:p14="http://schemas.microsoft.com/office/powerpoint/2010/main" val="3992826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0E90-D1C4-4CE2-AAC1-ECF8E164D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Business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11820-7CC3-434E-A6B8-E845AFB69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sz="2000" dirty="0"/>
              <a:t>Monitor category-level profitability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Investigate Furniture’s high return rate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Review Bath cancellation pattern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Evaluate pricing and costs of high-revenue products with lower margins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Plan inventory and promotions around seasonal demand , particularly November</a:t>
            </a:r>
          </a:p>
        </p:txBody>
      </p:sp>
    </p:spTree>
    <p:extLst>
      <p:ext uri="{BB962C8B-B14F-4D97-AF65-F5344CB8AC3E}">
        <p14:creationId xmlns:p14="http://schemas.microsoft.com/office/powerpoint/2010/main" val="19568367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791FB-D5D8-4AAB-B9CB-3988A9EF0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b="1" dirty="0">
                <a:latin typeface="+mn-lt"/>
              </a:rPr>
              <a:t>Limitations</a:t>
            </a:r>
            <a:r>
              <a:rPr lang="en-GB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0F9E1-BE3B-41D4-A11A-97EC2750A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Dataset represents a simulated e-commerce business scenario</a:t>
            </a:r>
          </a:p>
          <a:p>
            <a:r>
              <a:rPr lang="en-GB" sz="2000" dirty="0"/>
              <a:t>199 order-item records with missing unit prices were removed</a:t>
            </a:r>
          </a:p>
          <a:p>
            <a:r>
              <a:rPr lang="en-GB" sz="2000" dirty="0"/>
              <a:t>Refund amounts and  direct financial impact of returns / cancellations were not available</a:t>
            </a:r>
          </a:p>
          <a:p>
            <a:r>
              <a:rPr lang="en-GB" sz="2000" dirty="0"/>
              <a:t>Analysis covers only 2024-2025</a:t>
            </a:r>
          </a:p>
        </p:txBody>
      </p:sp>
    </p:spTree>
    <p:extLst>
      <p:ext uri="{BB962C8B-B14F-4D97-AF65-F5344CB8AC3E}">
        <p14:creationId xmlns:p14="http://schemas.microsoft.com/office/powerpoint/2010/main" val="2370239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89A4AE-612D-4C44-A75E-0F23262E4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74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>
                <a:latin typeface="+mn-lt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107106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430</Words>
  <Application>Microsoft Office PowerPoint</Application>
  <PresentationFormat>Widescreen</PresentationFormat>
  <Paragraphs>98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Wayfair E-commerce Sales &amp; Profitability Analysis</vt:lpstr>
      <vt:lpstr>Business Problem</vt:lpstr>
      <vt:lpstr>Data &amp; Analytical Approach</vt:lpstr>
      <vt:lpstr>Data Cleaning and Data Modelling </vt:lpstr>
      <vt:lpstr>Sales Performance: 2024 vs 2025</vt:lpstr>
      <vt:lpstr>Product &amp; Category Performance</vt:lpstr>
      <vt:lpstr>Return &amp; Cancellations</vt:lpstr>
      <vt:lpstr>Key Insights</vt:lpstr>
      <vt:lpstr>Business Recommendations</vt:lpstr>
      <vt:lpstr>Limitations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WayFair E-commerce Sales &amp; Profitability Analysis</dc:title>
  <dc:creator>Keerti Gurung</dc:creator>
  <cp:lastModifiedBy>Keerti Gurung</cp:lastModifiedBy>
  <cp:revision>5</cp:revision>
  <dcterms:created xsi:type="dcterms:W3CDTF">2026-09-22T10:40:13Z</dcterms:created>
  <dcterms:modified xsi:type="dcterms:W3CDTF">2026-09-22T13:09:52Z</dcterms:modified>
</cp:coreProperties>
</file>